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89F27B-25EF-D0CF-70BE-8FDEF3D47967}" name="Nishant Verma" initials="NV" userId="eb07076f307cfaf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2C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0F582-3C9F-4C65-40F6-EF6DDE128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64B12F-616F-BF8E-9415-AC159EEA7E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07F76-0396-D1EE-29B0-A7320CDE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5AB14-464E-4F5F-B544-2D45AF5E450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BFD68-46BE-830F-72A8-2D493BA01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7FF76-5E7C-2E9F-1145-0FEC2EFB2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8E6DE-3EB8-4E6F-9A6F-CAEC4BC11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972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104ED-8E3A-BF27-6FC6-47CF6A0A5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A56D1-6EAD-B6DF-88B6-AE29A4673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2624D-E186-51C5-1904-0E29EAEC6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5AB14-464E-4F5F-B544-2D45AF5E450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E413F-67A1-C64B-563B-0407F8CF5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4C7E9-190B-A72B-3CA6-0D8D20DEF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8E6DE-3EB8-4E6F-9A6F-CAEC4BC11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202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DF189-9C94-B802-A9C3-F53B5BFA8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47474-3D10-4FF6-FC3E-C99185933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109A7-8630-AE4F-3256-9A2059A08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5AB14-464E-4F5F-B544-2D45AF5E450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5E07C-351D-DF47-D9C2-7FEFA7381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CC22B-B37F-CEA2-FF20-815E46A5F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8E6DE-3EB8-4E6F-9A6F-CAEC4BC11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349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22410-3505-4E23-C8E0-BB8B1312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24D78-E568-CD79-02AB-3CD965D3C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C1C96-8A60-17A8-248B-60937C654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36B88-C68F-CCC6-0ADD-809FCF2A1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5AB14-464E-4F5F-B544-2D45AF5E450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A5B1D-B7AA-E289-56B8-15188FFAA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7C0C6-136B-9564-2D72-93F68A11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8E6DE-3EB8-4E6F-9A6F-CAEC4BC11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338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E4CFD-320D-DCAF-B153-F48050C8F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6AA19-1803-C2EA-4481-823C94ED4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25BCD3-69F1-C8C3-4BDE-9163E345D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3FE691-BFAE-9D23-DD1D-105B93617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B34F9F-67B9-E47E-3A63-F8DC6F6B05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94B771-CA12-0567-2E4A-0D4682DBD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5AB14-464E-4F5F-B544-2D45AF5E450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C4BE10-4AB7-D665-EC72-39B36988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04095D-E7E5-BDB0-5431-A157AB405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8E6DE-3EB8-4E6F-9A6F-CAEC4BC11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802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16591-91EF-2106-1713-15470AA97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E33AD-9FF2-3A30-A987-321238ED9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5AB14-464E-4F5F-B544-2D45AF5E450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8D317F-6C1F-BCD8-BCDB-02F5A465E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D4A17A-4A47-B03F-F85D-152FA8DC8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8E6DE-3EB8-4E6F-9A6F-CAEC4BC11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660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68BDFA-8F1A-79ED-C0F7-26DA008D3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5AB14-464E-4F5F-B544-2D45AF5E450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F19A49-CC2C-09D3-36AA-2B76B749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90B29-DE5A-1101-70BD-83CA471A3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8E6DE-3EB8-4E6F-9A6F-CAEC4BC11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793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ABF23-AC91-A324-43BE-3A1DAB171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4B302-1992-D278-62A9-7D8AB3F4D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2D68F5-F54F-2E1C-5555-FE9125545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43998-CCB4-4512-6DF0-4B6EEE7FB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5AB14-464E-4F5F-B544-2D45AF5E450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574DD-3985-1D93-86F7-C731AB007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408E1-4A8F-0B8F-581E-91114693F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8E6DE-3EB8-4E6F-9A6F-CAEC4BC11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405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A4384-37F6-2870-A4A8-88C49D7A2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539ACE-744F-ADA4-4F72-3B3D480E1E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D98E3D-E7B8-3A31-5C76-7A106C727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983E5-889A-DFDC-E90F-4BD539B47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5AB14-464E-4F5F-B544-2D45AF5E450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170B0-1D2F-3A61-9028-506428A59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EEED4-90AB-E773-F4EE-473FDF445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8E6DE-3EB8-4E6F-9A6F-CAEC4BC11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FB1B1-4795-321E-A53B-090892E5D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909D38-A86F-607C-5EE6-E4552EC3C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2BED5-1D7E-D68F-B4B9-ACD19B0D2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5AB14-464E-4F5F-B544-2D45AF5E450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F9166-FEA0-6AEA-99AC-8A2A4B90D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45469-FF02-2073-3E97-168C70C0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8E6DE-3EB8-4E6F-9A6F-CAEC4BC11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626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78E64E-9123-6F18-7597-7722728B9F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11B67-F74E-DBAF-7CD3-AAB256F8D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69ACF-53DA-3003-673C-FF60C047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5AB14-464E-4F5F-B544-2D45AF5E450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18237-FA04-819B-3AB4-BB40B9C1B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9DE79-8E72-3DE8-3B8A-6923E09A3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8E6DE-3EB8-4E6F-9A6F-CAEC4BC11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647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01A5FC-0485-7C92-7B95-B8538B1DB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8EA8F-023B-4D65-A527-E03DC836A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69D20-E02D-8006-49AD-F9CAF972BE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5AB14-464E-4F5F-B544-2D45AF5E450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D425B-6D23-D243-B40D-4EC56E2B4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6A2D7-3D8F-7C1E-63F4-0938A57BE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8E6DE-3EB8-4E6F-9A6F-CAEC4BC11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264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4C2F6-E4BE-0350-68D3-10EEBD310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271" y="355447"/>
            <a:ext cx="10717162" cy="238760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solidFill>
                  <a:schemeClr val="bg1"/>
                </a:solidFill>
              </a:rPr>
              <a:t>A 180-Day Habit Tracker Analysis: </a:t>
            </a:r>
            <a:br>
              <a:rPr lang="en-US" sz="4400" b="1" dirty="0">
                <a:solidFill>
                  <a:schemeClr val="bg1"/>
                </a:solidFill>
              </a:rPr>
            </a:br>
            <a:r>
              <a:rPr lang="en-US" sz="4400" b="1" dirty="0">
                <a:solidFill>
                  <a:schemeClr val="bg1"/>
                </a:solidFill>
              </a:rPr>
              <a:t>Finding My Drivers of Well-being</a:t>
            </a:r>
            <a:r>
              <a:rPr lang="en-IN" sz="4400" b="1" dirty="0">
                <a:solidFill>
                  <a:schemeClr val="bg1"/>
                </a:solidFill>
              </a:rPr>
              <a:t>📊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E5102B-5A5D-B580-325C-1A33FE68AC1C}"/>
              </a:ext>
            </a:extLst>
          </p:cNvPr>
          <p:cNvSpPr txBox="1"/>
          <p:nvPr/>
        </p:nvSpPr>
        <p:spPr>
          <a:xfrm>
            <a:off x="609598" y="3748556"/>
            <a:ext cx="1108095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bg1"/>
                </a:solidFill>
              </a:rPr>
              <a:t>In this project, I have applied </a:t>
            </a:r>
            <a:r>
              <a:rPr lang="en-US" sz="2000" b="1" dirty="0">
                <a:solidFill>
                  <a:schemeClr val="bg1"/>
                </a:solidFill>
              </a:rPr>
              <a:t>exploratory data analysis, trend tracking, and correlation modeling </a:t>
            </a:r>
            <a:r>
              <a:rPr lang="en-US" sz="2000" dirty="0">
                <a:solidFill>
                  <a:schemeClr val="bg1"/>
                </a:solidFill>
              </a:rPr>
              <a:t>to a 180-day personal habit tracker to </a:t>
            </a:r>
            <a:r>
              <a:rPr lang="en-US" sz="2000" b="1" dirty="0">
                <a:solidFill>
                  <a:schemeClr val="bg1"/>
                </a:solidFill>
              </a:rPr>
              <a:t>uncover the behavioral patterns </a:t>
            </a:r>
            <a:r>
              <a:rPr lang="en-US" sz="2000" dirty="0">
                <a:solidFill>
                  <a:schemeClr val="bg1"/>
                </a:solidFill>
              </a:rPr>
              <a:t>that most influence well-being.</a:t>
            </a:r>
          </a:p>
          <a:p>
            <a:pPr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bg1"/>
                </a:solidFill>
              </a:rPr>
              <a:t>The goal was to identify </a:t>
            </a:r>
            <a:r>
              <a:rPr lang="en-US" sz="2000" b="1" dirty="0">
                <a:solidFill>
                  <a:schemeClr val="bg1"/>
                </a:solidFill>
              </a:rPr>
              <a:t>habitual drivers of mood</a:t>
            </a:r>
            <a:r>
              <a:rPr lang="en-US" sz="2000" dirty="0">
                <a:solidFill>
                  <a:schemeClr val="bg1"/>
                </a:solidFill>
              </a:rPr>
              <a:t>, measure </a:t>
            </a:r>
            <a:r>
              <a:rPr lang="en-US" sz="2000" b="1" dirty="0">
                <a:solidFill>
                  <a:schemeClr val="bg1"/>
                </a:solidFill>
              </a:rPr>
              <a:t>consistency trends</a:t>
            </a:r>
            <a:r>
              <a:rPr lang="en-US" sz="2000" dirty="0">
                <a:solidFill>
                  <a:schemeClr val="bg1"/>
                </a:solidFill>
              </a:rPr>
              <a:t>, and build </a:t>
            </a:r>
            <a:r>
              <a:rPr lang="en-US" sz="2000" b="1" dirty="0">
                <a:solidFill>
                  <a:schemeClr val="bg1"/>
                </a:solidFill>
              </a:rPr>
              <a:t>data-backed self-awareness</a:t>
            </a:r>
            <a:r>
              <a:rPr lang="en-US" sz="2000" dirty="0">
                <a:solidFill>
                  <a:schemeClr val="bg1"/>
                </a:solidFill>
              </a:rPr>
              <a:t> using Python (pandas, seaborn, matplotlib) — replicating how a business might analyze consumer behavior, only here, the consumer is myself.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3BDF04-D217-7C68-13A5-B894858A6B7C}"/>
              </a:ext>
            </a:extLst>
          </p:cNvPr>
          <p:cNvSpPr txBox="1"/>
          <p:nvPr/>
        </p:nvSpPr>
        <p:spPr>
          <a:xfrm>
            <a:off x="609598" y="2664991"/>
            <a:ext cx="110809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The project highlights how even small, seemingly behaviors (like meditation or sugar consumption) can have measurable psychological effects.</a:t>
            </a:r>
            <a:endParaRPr lang="en-IN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309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D67654-5F1B-11F2-9332-75656A546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33D3120-462E-E4DC-DDA6-84460E10F0E4}"/>
              </a:ext>
            </a:extLst>
          </p:cNvPr>
          <p:cNvSpPr txBox="1"/>
          <p:nvPr/>
        </p:nvSpPr>
        <p:spPr>
          <a:xfrm>
            <a:off x="8443261" y="720653"/>
            <a:ext cx="3461822" cy="52937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The 30-day average shows a </a:t>
            </a:r>
            <a:r>
              <a:rPr lang="en-US" sz="1300" b="1" dirty="0"/>
              <a:t>sustained upward trajectory starting late July</a:t>
            </a:r>
            <a:r>
              <a:rPr lang="en-US" sz="1300" dirty="0"/>
              <a:t>, which continues through September and early October.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What went well and what could be better? </a:t>
            </a:r>
          </a:p>
          <a:p>
            <a:pPr marL="742950" lvl="1" indent="-285750">
              <a:buSzPct val="50000"/>
              <a:buFont typeface="Courier New" panose="02070309020205020404" pitchFamily="49" charset="0"/>
              <a:buChar char="o"/>
            </a:pPr>
            <a:r>
              <a:rPr lang="en-US" sz="1300" b="1" dirty="0"/>
              <a:t>June: </a:t>
            </a:r>
            <a:r>
              <a:rPr lang="en-US" sz="1300" dirty="0"/>
              <a:t>despite high workout and meditation frequency, mood declined. This could be because sugar consumption may have offset the benefits (second lowest frequency of sugar control)</a:t>
            </a:r>
          </a:p>
          <a:p>
            <a:pPr marL="742950" lvl="1" indent="-285750">
              <a:buSzPct val="50000"/>
              <a:buFont typeface="Courier New" panose="02070309020205020404" pitchFamily="49" charset="0"/>
              <a:buChar char="o"/>
            </a:pPr>
            <a:r>
              <a:rPr lang="en-US" sz="1300" b="1" dirty="0"/>
              <a:t>In July - August</a:t>
            </a:r>
            <a:r>
              <a:rPr lang="en-US" sz="1300" dirty="0"/>
              <a:t>: although workout streak dipped, frequency was fairly stable. Plus, meditation and no sugar streak slightly increased in August.</a:t>
            </a:r>
          </a:p>
          <a:p>
            <a:pPr marL="742950" lvl="1" indent="-285750">
              <a:buSzPct val="50000"/>
              <a:buFont typeface="Courier New" panose="02070309020205020404" pitchFamily="49" charset="0"/>
              <a:buChar char="o"/>
            </a:pPr>
            <a:r>
              <a:rPr lang="en-US" sz="1300" b="1" dirty="0"/>
              <a:t>High consistency in workout and meditation in June </a:t>
            </a:r>
            <a:r>
              <a:rPr lang="en-US" sz="1300" dirty="0"/>
              <a:t>(high correlation with mood scores) possibly showed a </a:t>
            </a:r>
            <a:r>
              <a:rPr lang="en-US" sz="1300" b="1" dirty="0"/>
              <a:t>ripple effect in the high mood health </a:t>
            </a:r>
            <a:r>
              <a:rPr lang="en-US" sz="1300" dirty="0"/>
              <a:t>in July – August. </a:t>
            </a:r>
          </a:p>
          <a:p>
            <a:pPr lvl="1">
              <a:buSzPct val="50000"/>
            </a:pPr>
            <a:endParaRPr lang="en-US" sz="130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00" dirty="0"/>
              <a:t>Habit frequency and streaks relatively weakened in October, which could also be the reason of mood scores dipping in late October.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1E6E679-E94A-ECFC-7C50-7D69E13EB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51" y="561520"/>
            <a:ext cx="7150789" cy="4626981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228E3C8A-B70F-3E49-9CE0-59BF7356DBA2}"/>
              </a:ext>
            </a:extLst>
          </p:cNvPr>
          <p:cNvSpPr/>
          <p:nvPr/>
        </p:nvSpPr>
        <p:spPr>
          <a:xfrm rot="21120653">
            <a:off x="5166418" y="3629572"/>
            <a:ext cx="2045605" cy="83227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2C1D69B-58BA-1A68-FA44-36272B0F4C91}"/>
              </a:ext>
            </a:extLst>
          </p:cNvPr>
          <p:cNvSpPr/>
          <p:nvPr/>
        </p:nvSpPr>
        <p:spPr>
          <a:xfrm rot="5400000">
            <a:off x="2026154" y="1336887"/>
            <a:ext cx="1069220" cy="1078396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59E1FD-EE6E-61D4-7C7A-EAA1C3876976}"/>
              </a:ext>
            </a:extLst>
          </p:cNvPr>
          <p:cNvSpPr txBox="1"/>
          <p:nvPr/>
        </p:nvSpPr>
        <p:spPr>
          <a:xfrm>
            <a:off x="257360" y="192188"/>
            <a:ext cx="10440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Tracking overall mood health and streak analysis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0341CEC-00D2-4B2A-7554-FC5429F42C33}"/>
              </a:ext>
            </a:extLst>
          </p:cNvPr>
          <p:cNvCxnSpPr>
            <a:cxnSpLocks/>
          </p:cNvCxnSpPr>
          <p:nvPr/>
        </p:nvCxnSpPr>
        <p:spPr>
          <a:xfrm>
            <a:off x="1858485" y="2264635"/>
            <a:ext cx="2669295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2BBA1B-08BE-3742-6BC1-0B44C301CD2D}"/>
              </a:ext>
            </a:extLst>
          </p:cNvPr>
          <p:cNvCxnSpPr>
            <a:cxnSpLocks/>
          </p:cNvCxnSpPr>
          <p:nvPr/>
        </p:nvCxnSpPr>
        <p:spPr>
          <a:xfrm>
            <a:off x="3988582" y="2029948"/>
            <a:ext cx="1078395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row: Up-Down 10">
            <a:extLst>
              <a:ext uri="{FF2B5EF4-FFF2-40B4-BE49-F238E27FC236}">
                <a16:creationId xmlns:a16="http://schemas.microsoft.com/office/drawing/2014/main" id="{C978A230-2D38-507D-231E-98E954B9E667}"/>
              </a:ext>
            </a:extLst>
          </p:cNvPr>
          <p:cNvSpPr/>
          <p:nvPr/>
        </p:nvSpPr>
        <p:spPr>
          <a:xfrm>
            <a:off x="4488854" y="2047023"/>
            <a:ext cx="64810" cy="217612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BF7274-8EF6-2B27-A8B7-9950DEF58B8A}"/>
              </a:ext>
            </a:extLst>
          </p:cNvPr>
          <p:cNvSpPr txBox="1"/>
          <p:nvPr/>
        </p:nvSpPr>
        <p:spPr>
          <a:xfrm rot="21191403">
            <a:off x="5274538" y="3409875"/>
            <a:ext cx="17291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00B050"/>
                </a:solidFill>
              </a:rPr>
              <a:t>overall improvement </a:t>
            </a:r>
            <a:endParaRPr lang="en-IN" sz="1100" b="1" dirty="0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49E143-3DEC-0E36-83DF-DED9734528FF}"/>
              </a:ext>
            </a:extLst>
          </p:cNvPr>
          <p:cNvSpPr txBox="1"/>
          <p:nvPr/>
        </p:nvSpPr>
        <p:spPr>
          <a:xfrm>
            <a:off x="3033738" y="1193056"/>
            <a:ext cx="1621829" cy="261591"/>
          </a:xfrm>
          <a:prstGeom prst="wedgeRectCallout">
            <a:avLst>
              <a:gd name="adj1" fmla="val -59195"/>
              <a:gd name="adj2" fmla="val 1978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rgbClr val="C00000"/>
                </a:solidFill>
              </a:rPr>
              <a:t>Mood was lowest in June</a:t>
            </a:r>
            <a:endParaRPr lang="en-IN" sz="1050" b="1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06F463-8938-7339-14AB-93D025C4BB40}"/>
              </a:ext>
            </a:extLst>
          </p:cNvPr>
          <p:cNvSpPr txBox="1"/>
          <p:nvPr/>
        </p:nvSpPr>
        <p:spPr>
          <a:xfrm>
            <a:off x="4658358" y="2071800"/>
            <a:ext cx="1921660" cy="261610"/>
          </a:xfrm>
          <a:prstGeom prst="wedgeRectCallout">
            <a:avLst>
              <a:gd name="adj1" fmla="val -56023"/>
              <a:gd name="adj2" fmla="val -1905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rgbClr val="00B050"/>
                </a:solidFill>
              </a:rPr>
              <a:t>Sharply improved in early Aug</a:t>
            </a:r>
            <a:endParaRPr lang="en-IN" sz="1050" b="1" dirty="0">
              <a:solidFill>
                <a:srgbClr val="00B050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A8A78C9-350C-4BFE-A336-DD7D925B3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89" y="5379711"/>
            <a:ext cx="3630387" cy="10926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Monthly Habit - Longest Streak: </a:t>
            </a:r>
            <a:endParaRPr kumimoji="0" lang="en-US" altLang="en-US" sz="1100" b="1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{'2024-05': {'Workout': 6, 'Meditated': 3, 'Journaled': 3, 'No Sugar': 2},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'2024-06': {'Workout': 8, 'Meditated': 5, 'Journaled': 4, 'No Sugar': 2},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'2024-07': {'Workout': 3, 'Meditated': 4, 'Journaled': 4, 'No Sugar': 3},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'2024-08': {'Workout': 4, 'Meditated': 6, 'Journaled': 4, 'No Sugar': 5},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'2024-09': {'Workout': 3, 'Meditated': 3, 'Journaled': 5, 'No Sugar': 3},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'2024-10': {'Workout': 2, 'Meditated': 3, 'Journaled': 3, 'No Sugar': 3}}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DA84B48-AB23-7BAF-0B9E-7CB3925DF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1588" y="5386034"/>
            <a:ext cx="4114799" cy="109260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Monthly Habit - Frequency: </a:t>
            </a:r>
            <a:endParaRPr kumimoji="0" lang="en-US" altLang="en-US" sz="1100" b="1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{'2024-05': {'Workout': 14, 'Meditated': 12, 'Journaled': 7, 'No Sugar': 12}, '2024-06': {'Workout':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20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, 'Meditated': 17, 'Journaled': 15, 'No Sugar': 10},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'2024-07': {'Workout': 19, 'Meditated': 18, 'Journaled': 18, 'No Sugar': 8},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'2024-08': {'Workout': 17, 'Meditated': 15, 'Journaled': 14, 'No Sugar': 17},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'2024-09': {'Workout': 14, 'Meditated': 16, 'Journaled': 16, 'No Sugar': 16},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'2024-10': {'Workout': 11, 'Meditated': 14, 'Journaled': 10, 'No Sugar': 13}}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5219658-BECA-E25C-A53C-B83FE6E2D7AF}"/>
              </a:ext>
            </a:extLst>
          </p:cNvPr>
          <p:cNvCxnSpPr>
            <a:cxnSpLocks/>
          </p:cNvCxnSpPr>
          <p:nvPr/>
        </p:nvCxnSpPr>
        <p:spPr>
          <a:xfrm>
            <a:off x="7201762" y="3315352"/>
            <a:ext cx="0" cy="457728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FB0E51C-05C0-EE7B-B107-279A8CB7A62E}"/>
              </a:ext>
            </a:extLst>
          </p:cNvPr>
          <p:cNvSpPr/>
          <p:nvPr/>
        </p:nvSpPr>
        <p:spPr>
          <a:xfrm>
            <a:off x="534729" y="5868051"/>
            <a:ext cx="3576261" cy="292719"/>
          </a:xfrm>
          <a:prstGeom prst="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30B29F-2E58-7785-C5A8-6402058E8B02}"/>
              </a:ext>
            </a:extLst>
          </p:cNvPr>
          <p:cNvSpPr/>
          <p:nvPr/>
        </p:nvSpPr>
        <p:spPr>
          <a:xfrm>
            <a:off x="4391477" y="5862289"/>
            <a:ext cx="3848283" cy="308641"/>
          </a:xfrm>
          <a:prstGeom prst="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13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F5C98-40A7-260B-3559-4F1FDB4E9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009762-9D7B-45E1-AB9B-E9F519C3B3C4}"/>
              </a:ext>
            </a:extLst>
          </p:cNvPr>
          <p:cNvSpPr txBox="1"/>
          <p:nvPr/>
        </p:nvSpPr>
        <p:spPr>
          <a:xfrm>
            <a:off x="236578" y="171406"/>
            <a:ext cx="112940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Understanding the Key Drivers of Emotional Health </a:t>
            </a:r>
            <a:r>
              <a:rPr lang="en-US" sz="1600" b="1" dirty="0"/>
              <a:t>- </a:t>
            </a:r>
            <a:r>
              <a:rPr lang="en-US" sz="1400" b="1" dirty="0"/>
              <a:t>Mindfulness habits show the strongest link to mood, while other behaviors act as supporting factors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FF5F21-44DF-B82F-2319-FB3EDAA34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59" y="892849"/>
            <a:ext cx="3744423" cy="297272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19AA96-47CE-AC0C-82AA-DAE6E2792D00}"/>
              </a:ext>
            </a:extLst>
          </p:cNvPr>
          <p:cNvSpPr txBox="1"/>
          <p:nvPr/>
        </p:nvSpPr>
        <p:spPr>
          <a:xfrm>
            <a:off x="5443164" y="892849"/>
            <a:ext cx="6274318" cy="24929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Among all tracked habits, meditation has the strongest positive relationship with mood (0.48) followed by journalling, suggesting a </a:t>
            </a:r>
            <a:r>
              <a:rPr lang="en-US" sz="1300" b="1" dirty="0"/>
              <a:t>clear link between mindfulness and emotional well-being</a:t>
            </a:r>
            <a:r>
              <a:rPr lang="en-US" sz="13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Workout has some positive correlation (0.067), but weaker than expected. Implies </a:t>
            </a:r>
            <a:r>
              <a:rPr lang="en-US" sz="1300" b="1" dirty="0"/>
              <a:t>workouts may need to be supported by other habits </a:t>
            </a:r>
            <a:r>
              <a:rPr lang="en-US" sz="1300" dirty="0"/>
              <a:t>(like mindfulness, sugar control) to impact mood.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Habits like sugar control </a:t>
            </a:r>
            <a:r>
              <a:rPr lang="en-US" sz="1300" b="1" dirty="0"/>
              <a:t>don’t show strong linear relationships</a:t>
            </a:r>
            <a:r>
              <a:rPr lang="en-US" sz="1300" dirty="0"/>
              <a:t>, contrary to the assumption based on behavioral trends. This might be suggesting that </a:t>
            </a:r>
            <a:r>
              <a:rPr lang="en-US" sz="1300" b="1" dirty="0"/>
              <a:t>sugar alone doesn't dictate mood either</a:t>
            </a:r>
            <a:r>
              <a:rPr lang="en-US" sz="1300" dirty="0"/>
              <a:t>, but likely acts as a supporting factor in the broader picture. </a:t>
            </a:r>
            <a:endParaRPr lang="en-US" sz="13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79B3E-B215-4805-3674-11AB8F65E729}"/>
              </a:ext>
            </a:extLst>
          </p:cNvPr>
          <p:cNvSpPr txBox="1"/>
          <p:nvPr/>
        </p:nvSpPr>
        <p:spPr>
          <a:xfrm>
            <a:off x="423862" y="4199668"/>
            <a:ext cx="11344275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US" sz="1300" b="1" i="1" dirty="0">
                <a:solidFill>
                  <a:srgbClr val="FF0000"/>
                </a:solidFill>
              </a:rPr>
              <a:t>My learnings and takeaways from this project:</a:t>
            </a:r>
            <a:endParaRPr lang="en-US" sz="1300" i="1" dirty="0">
              <a:solidFill>
                <a:srgbClr val="FF0000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00" dirty="0"/>
              <a:t>Consistency across multiple habits drives momentum –  so </a:t>
            </a:r>
            <a:r>
              <a:rPr lang="en-US" sz="1300" b="1" dirty="0"/>
              <a:t>smaller steps in multiple keystone habits is better than focusing on only one habit </a:t>
            </a:r>
            <a:r>
              <a:rPr lang="en-US" sz="1300" dirty="0"/>
              <a:t>in isolation.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00" dirty="0"/>
              <a:t>Considering that mood as an outcome may not always respond instantly, </a:t>
            </a:r>
            <a:r>
              <a:rPr lang="en-US" sz="1300" b="1" dirty="0"/>
              <a:t>rolling averages provide a helpful directional insight</a:t>
            </a:r>
            <a:r>
              <a:rPr lang="en-US" sz="1300" dirty="0"/>
              <a:t>. </a:t>
            </a:r>
            <a:br>
              <a:rPr lang="en-US" sz="1300" dirty="0"/>
            </a:br>
            <a:r>
              <a:rPr lang="en-US" sz="1300" dirty="0"/>
              <a:t>This also indicates that analyzing correlation that incorporates some lag in the model could be more helpful. 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00" b="1" dirty="0"/>
              <a:t>Correlation doesn’t imply causation </a:t>
            </a:r>
            <a:r>
              <a:rPr lang="en-US" sz="1300" dirty="0"/>
              <a:t>(for example: sugar-free days being weakly associated with low mood doesn’t imply that consuming sugar has no impact on mood at all).</a:t>
            </a:r>
          </a:p>
          <a:p>
            <a:pPr marL="742950" lvl="1" indent="-285750">
              <a:buSzPct val="100000"/>
              <a:buFont typeface="Arial" panose="020B0604020202020204" pitchFamily="34" charset="0"/>
              <a:buChar char="•"/>
            </a:pPr>
            <a:endParaRPr lang="en-US" sz="1300" dirty="0"/>
          </a:p>
          <a:p>
            <a:pPr>
              <a:buSzPct val="100000"/>
            </a:pPr>
            <a:r>
              <a:rPr lang="en-US" sz="1300" i="1" dirty="0">
                <a:solidFill>
                  <a:srgbClr val="FF0000"/>
                </a:solidFill>
              </a:rPr>
              <a:t>…..</a:t>
            </a:r>
            <a:r>
              <a:rPr lang="en-US" sz="1300" b="1" i="1" dirty="0">
                <a:solidFill>
                  <a:srgbClr val="FF0000"/>
                </a:solidFill>
              </a:rPr>
              <a:t> and how it can be applied to a business context: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00" b="1" dirty="0"/>
              <a:t>Over-indexing on one specific user behaviour to predict the outcome may not give useful insights.</a:t>
            </a:r>
            <a:r>
              <a:rPr lang="en-US" sz="1300" dirty="0"/>
              <a:t>  It’s very important to track quantifiable loyalty behaviors (repeat purchase, interaction with new campaigns) instead of just revenue brought in by a consumer. 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00" dirty="0"/>
              <a:t>A user may not show immediate satisfaction or loyalty after signing up or trying a product once. But </a:t>
            </a:r>
            <a:r>
              <a:rPr lang="en-US" sz="1300" b="1" dirty="0"/>
              <a:t>repeated exposure or use can create stickiness</a:t>
            </a:r>
            <a:r>
              <a:rPr lang="en-US" sz="13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3725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8B8115-0AFF-CF49-8D6F-887F2AB6F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DBFF-97ED-4618-950C-2E1417D771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419" y="1217892"/>
            <a:ext cx="10717162" cy="2387600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chemeClr val="bg1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582382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842</Words>
  <Application>Microsoft Office PowerPoint</Application>
  <PresentationFormat>Widescreen</PresentationFormat>
  <Paragraphs>45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Courier New</vt:lpstr>
      <vt:lpstr>menlo</vt:lpstr>
      <vt:lpstr>Office Theme</vt:lpstr>
      <vt:lpstr>A 180-Day Habit Tracker Analysis:  Finding My Drivers of Well-being📊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Nishant Verma</dc:creator>
  <cp:lastModifiedBy>Nishant Verma</cp:lastModifiedBy>
  <cp:revision>8</cp:revision>
  <dcterms:created xsi:type="dcterms:W3CDTF">2025-07-12T18:15:50Z</dcterms:created>
  <dcterms:modified xsi:type="dcterms:W3CDTF">2025-11-24T08:00:39Z</dcterms:modified>
</cp:coreProperties>
</file>